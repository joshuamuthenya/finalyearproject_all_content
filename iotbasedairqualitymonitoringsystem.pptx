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0" r:id="rId6"/>
    <p:sldId id="268" r:id="rId7"/>
    <p:sldId id="265" r:id="rId8"/>
    <p:sldId id="270" r:id="rId9"/>
    <p:sldId id="266" r:id="rId10"/>
    <p:sldId id="261" r:id="rId11"/>
    <p:sldId id="271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0600C-22C0-4997-A48F-5CF345EA5A4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BEAD9-0D7D-4034-AF28-78E2BA787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9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29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20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43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32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2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99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7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62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25" y="512763"/>
            <a:ext cx="7852224" cy="19922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11453" y="3244334"/>
            <a:ext cx="81690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i="1" dirty="0"/>
              <a:t>IOT-BASED AIR QUALITY MONITORING SYSTEM</a:t>
            </a:r>
            <a:endParaRPr lang="en-US" sz="3200" b="1" i="1" dirty="0"/>
          </a:p>
        </p:txBody>
      </p:sp>
      <p:sp>
        <p:nvSpPr>
          <p:cNvPr id="13" name="Rectangle 12"/>
          <p:cNvSpPr/>
          <p:nvPr/>
        </p:nvSpPr>
        <p:spPr>
          <a:xfrm>
            <a:off x="5162842" y="4333468"/>
            <a:ext cx="308082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Joshua </a:t>
            </a:r>
            <a:r>
              <a:rPr lang="en-US" sz="2800" b="1" dirty="0" smtClean="0"/>
              <a:t>Wambua</a:t>
            </a:r>
            <a:endParaRPr lang="en-US" sz="2800" dirty="0"/>
          </a:p>
          <a:p>
            <a:r>
              <a:rPr lang="en-US" sz="2800" b="1" dirty="0"/>
              <a:t>EG209/109705/22</a:t>
            </a:r>
            <a:endParaRPr lang="en-US" sz="2800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85070" y="5564574"/>
            <a:ext cx="908772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BTech. Electrical and Electronic Engineering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669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3752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Outline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621536" y="1645920"/>
            <a:ext cx="10058400" cy="3759878"/>
          </a:xfrm>
        </p:spPr>
        <p:txBody>
          <a:bodyPr>
            <a:normAutofit fontScale="25000" lnSpcReduction="20000"/>
          </a:bodyPr>
          <a:lstStyle/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of Study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</a:t>
            </a:r>
          </a:p>
          <a:p>
            <a:pPr marL="1558291" lvl="1" indent="-1371600">
              <a:lnSpc>
                <a:spcPct val="120000"/>
              </a:lnSpc>
              <a:buFont typeface="+mj-lt"/>
              <a:buAutoNum type="arabicParenR"/>
            </a:pPr>
            <a:r>
              <a:rPr lang="en-US" sz="9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plan.</a:t>
            </a:r>
            <a:endParaRPr lang="en-US" sz="9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0567-BF02-43B5-88D9-DB74DE559B36}" type="datetime1">
              <a:rPr lang="en-US" smtClean="0"/>
              <a:pPr/>
              <a:t>2/9/2026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4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08580" y="400903"/>
            <a:ext cx="5443220" cy="56429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Background of the study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97280" y="1410592"/>
            <a:ext cx="1004313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pollution is a growing public health and environmental concern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worldwide.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Urbanization and industrial activities increase emission of harmful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gases and particulate matter.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Pollutants such as CO, LPG, PM2.5 and PM10 cause serious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problems.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leaks in domestic environments pose risks of fire, explosions,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poisoning.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air quality monitoring systems are centralized and expensive.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Households lack access to real-time, localized air quality information.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Advances in IoT enable low-cost, real-time monitoring solutions.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proposes an IoT-based system for continuous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and early warning.</a:t>
            </a:r>
          </a:p>
        </p:txBody>
      </p:sp>
    </p:spTree>
    <p:extLst>
      <p:ext uri="{BB962C8B-B14F-4D97-AF65-F5344CB8AC3E}">
        <p14:creationId xmlns:p14="http://schemas.microsoft.com/office/powerpoint/2010/main" val="318779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80" y="548640"/>
            <a:ext cx="4315968" cy="615696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 smtClean="0"/>
              <a:t>Problem Statement</a:t>
            </a:r>
            <a:endParaRPr lang="en-US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06500" y="2185977"/>
            <a:ext cx="104454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pollution and gas leaks often go undetected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homes and small premises.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air quality monitoring systems 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expensive and inaccessible to individuals.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real-time, localized monitoring increases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 and safety risks.</a:t>
            </a:r>
          </a:p>
        </p:txBody>
      </p:sp>
    </p:spTree>
    <p:extLst>
      <p:ext uri="{BB962C8B-B14F-4D97-AF65-F5344CB8AC3E}">
        <p14:creationId xmlns:p14="http://schemas.microsoft.com/office/powerpoint/2010/main" val="212648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768" y="707136"/>
            <a:ext cx="2438400" cy="58521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b="1" dirty="0"/>
              <a:t>Main Objective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scalable IoT-Based Air Quality Monitoring System with real-time detection, prediction, alerts, and actuation.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particulate matter and hazardous gases in real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temperature and humidity.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remote monitoring via a cloud-based web application.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alerts when unsafe levels are detected.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safety response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2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80" y="536448"/>
            <a:ext cx="3852672" cy="69494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47545"/>
              </p:ext>
            </p:extLst>
          </p:nvPr>
        </p:nvGraphicFramePr>
        <p:xfrm>
          <a:off x="1097280" y="1737360"/>
          <a:ext cx="10058400" cy="45720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15010115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9169012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82454157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81769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Author &amp;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Focus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Key Findings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Identified 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15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Bagkis et al.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Low-cost sensor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Scalable but accuracy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Limited household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01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Concas et al. (2021)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Sensor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Accuracy affected by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Need ML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95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Garcia et al.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IoT &amp; AI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Real-time analytics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Limited safety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52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Gatari et al. (2018)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Kenyan PM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Reliable low-cost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Sparse local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63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Ramesh et al. (2024)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IoT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Real-time data &amp;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Limited prediction </a:t>
                      </a:r>
                      <a:r>
                        <a:rPr lang="en-US" sz="2400" dirty="0" smtClean="0"/>
                        <a:t>capability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41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57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320" y="426720"/>
            <a:ext cx="3462528" cy="6522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Methodology </a:t>
            </a:r>
            <a:endParaRPr lang="en-US" dirty="0"/>
          </a:p>
        </p:txBody>
      </p:sp>
      <p:pic>
        <p:nvPicPr>
          <p:cNvPr id="4" name="Content Placeholder 3" descr="C:\Users\Joshua\Pictures\Screenshots\Screenshot (863)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709" y="2381044"/>
            <a:ext cx="9298667" cy="3617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704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3056" y="573024"/>
            <a:ext cx="6900672" cy="6217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Methodology-System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3456"/>
            <a:ext cx="10058400" cy="45110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Sensors </a:t>
            </a:r>
            <a:r>
              <a:rPr lang="en-US" sz="2800" dirty="0">
                <a:solidFill>
                  <a:schemeClr val="tx1"/>
                </a:solidFill>
              </a:rPr>
              <a:t>continuously measure air pollutants and environmental parameters.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ESP32 processes and evaluates sensor data locally.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Unsafe conditions trigger immediate alerts and safety 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Data is transmitted to Firebase via Wi-Fi.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Web application displays real-time and historical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Machine learning models predict trends and detect anomalies.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0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408" y="499872"/>
            <a:ext cx="4389120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Expected Results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49254"/>
            <a:ext cx="112918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of air pollutants and hazardous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gas leaks and fire risks.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alerts and notifications.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 web-based visualization.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environmental awareness and safety.</a:t>
            </a:r>
          </a:p>
        </p:txBody>
      </p:sp>
    </p:spTree>
    <p:extLst>
      <p:ext uri="{BB962C8B-B14F-4D97-AF65-F5344CB8AC3E}">
        <p14:creationId xmlns:p14="http://schemas.microsoft.com/office/powerpoint/2010/main" val="409715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56" y="365760"/>
            <a:ext cx="3121152" cy="6035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 plan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162942"/>
              </p:ext>
            </p:extLst>
          </p:nvPr>
        </p:nvGraphicFramePr>
        <p:xfrm>
          <a:off x="5535167" y="81581"/>
          <a:ext cx="4486655" cy="65874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588">
                  <a:extLst>
                    <a:ext uri="{9D8B030D-6E8A-4147-A177-3AD203B41FA5}">
                      <a16:colId xmlns:a16="http://schemas.microsoft.com/office/drawing/2014/main" val="3059640099"/>
                    </a:ext>
                  </a:extLst>
                </a:gridCol>
                <a:gridCol w="1005119">
                  <a:extLst>
                    <a:ext uri="{9D8B030D-6E8A-4147-A177-3AD203B41FA5}">
                      <a16:colId xmlns:a16="http://schemas.microsoft.com/office/drawing/2014/main" val="3614766440"/>
                    </a:ext>
                  </a:extLst>
                </a:gridCol>
                <a:gridCol w="1257906">
                  <a:extLst>
                    <a:ext uri="{9D8B030D-6E8A-4147-A177-3AD203B41FA5}">
                      <a16:colId xmlns:a16="http://schemas.microsoft.com/office/drawing/2014/main" val="62219545"/>
                    </a:ext>
                  </a:extLst>
                </a:gridCol>
                <a:gridCol w="562042">
                  <a:extLst>
                    <a:ext uri="{9D8B030D-6E8A-4147-A177-3AD203B41FA5}">
                      <a16:colId xmlns:a16="http://schemas.microsoft.com/office/drawing/2014/main" val="1832804930"/>
                    </a:ext>
                  </a:extLst>
                </a:gridCol>
              </a:tblGrid>
              <a:tr h="38172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Date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Date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0490872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Incubation &amp; Topic Refinement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01-Sep-2025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14-Sep-2025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7073194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and Background Study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15-Sep-2025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05-Oct-2025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4442077"/>
                  </a:ext>
                </a:extLst>
              </a:tr>
              <a:tr h="30171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06-Oct-2025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7545911"/>
                  </a:ext>
                </a:extLst>
              </a:tr>
              <a:tr h="30171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4856901"/>
                  </a:ext>
                </a:extLst>
              </a:tr>
              <a:tr h="30171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 Finalization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2864770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Development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30-Nov-2025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5542551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 Writing and Submission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01-Dec-2025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14-Dec-2025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5419387"/>
                  </a:ext>
                </a:extLst>
              </a:tr>
              <a:tr h="30171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 Presentation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15-Dec-2025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21-Dec-2025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854988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&amp; Design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05-Jan-2026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25-Jan-2026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8658788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 &amp; Integration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26-Jan-2026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16-Feb-2026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1278439"/>
                  </a:ext>
                </a:extLst>
              </a:tr>
              <a:tr h="30171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Firmware Development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10-Feb-2026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10-Mar-2026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4412210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and Database Integration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01-Mar-2026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22-Mar-2026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1203726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 Development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10-Mar-2026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426263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Integration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23-Mar-2026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42308"/>
                  </a:ext>
                </a:extLst>
              </a:tr>
              <a:tr h="432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Documentation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2069148"/>
                  </a:ext>
                </a:extLst>
              </a:tr>
              <a:tr h="3715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&amp; Submission</a:t>
                      </a:r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30-Apr-2026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936558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25" y="1942382"/>
            <a:ext cx="2779583" cy="298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7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048" y="365760"/>
            <a:ext cx="3035808" cy="6035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Gantt Chart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9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112" y="304800"/>
            <a:ext cx="2548128" cy="749808"/>
          </a:xfrm>
        </p:spPr>
        <p:txBody>
          <a:bodyPr/>
          <a:lstStyle/>
          <a:p>
            <a:r>
              <a:rPr lang="en-US" dirty="0" smtClean="0"/>
              <a:t>Budget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899489"/>
              </p:ext>
            </p:extLst>
          </p:nvPr>
        </p:nvGraphicFramePr>
        <p:xfrm>
          <a:off x="5937187" y="492951"/>
          <a:ext cx="4425697" cy="5839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279128631"/>
                    </a:ext>
                  </a:extLst>
                </a:gridCol>
                <a:gridCol w="1909979">
                  <a:extLst>
                    <a:ext uri="{9D8B030D-6E8A-4147-A177-3AD203B41FA5}">
                      <a16:colId xmlns:a16="http://schemas.microsoft.com/office/drawing/2014/main" val="4033213537"/>
                    </a:ext>
                  </a:extLst>
                </a:gridCol>
                <a:gridCol w="961238">
                  <a:extLst>
                    <a:ext uri="{9D8B030D-6E8A-4147-A177-3AD203B41FA5}">
                      <a16:colId xmlns:a16="http://schemas.microsoft.com/office/drawing/2014/main" val="1433552948"/>
                    </a:ext>
                  </a:extLst>
                </a:gridCol>
              </a:tblGrid>
              <a:tr h="2539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Serial No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Component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1523146701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ESP 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573612172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MQ-SERIES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1304145446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NOVA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317459281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BATTERY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036794775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BATTERY CHARGER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897031184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PSU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886924590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JUMPERS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404188758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STRIP BOARD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183934149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BREAD BOARD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984655481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ENCLOSURE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43916130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INTERNET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868923645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DHT11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900405596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ACCESS POINT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262271833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POWERBANK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4057111970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Miscellaneous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413406463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LEDS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2928450630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BUZZER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124169706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PUSH BUTTON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932217954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RESISTORS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203320395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CAPACITORS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3329121050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1446788953"/>
                  </a:ext>
                </a:extLst>
              </a:tr>
              <a:tr h="2539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17860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29" marR="8329" marT="8329" marB="0" anchor="b"/>
                </a:tc>
                <a:extLst>
                  <a:ext uri="{0D108BD9-81ED-4DB2-BD59-A6C34878D82A}">
                    <a16:rowId xmlns:a16="http://schemas.microsoft.com/office/drawing/2014/main" val="639286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39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8016" y="487680"/>
            <a:ext cx="3791712" cy="786384"/>
          </a:xfrm>
        </p:spPr>
        <p:txBody>
          <a:bodyPr/>
          <a:lstStyle/>
          <a:p>
            <a:r>
              <a:rPr lang="en-US" dirty="0" smtClean="0"/>
              <a:t>Key References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518586"/>
            <a:ext cx="972522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Bagkis et al., 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npj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Climate and Atmospheric Science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Concas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ACM TOSN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2021.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Garcia et al.,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Review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Gatari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Atmospheric Chemistry and Physics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2018.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Ramesh et al.,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ICCES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Tastan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57602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336</TotalTime>
  <Words>664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Outline </vt:lpstr>
      <vt:lpstr>Background of the study</vt:lpstr>
      <vt:lpstr>Problem Statement</vt:lpstr>
      <vt:lpstr>Objectives</vt:lpstr>
      <vt:lpstr>Literature review</vt:lpstr>
      <vt:lpstr>Methodology </vt:lpstr>
      <vt:lpstr>Methodology-System Operation</vt:lpstr>
      <vt:lpstr>Expected Results</vt:lpstr>
      <vt:lpstr>Work plan </vt:lpstr>
      <vt:lpstr>Gantt Chart </vt:lpstr>
      <vt:lpstr>Budget </vt:lpstr>
      <vt:lpstr>Key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</dc:creator>
  <cp:lastModifiedBy>Joshua</cp:lastModifiedBy>
  <cp:revision>15</cp:revision>
  <dcterms:created xsi:type="dcterms:W3CDTF">2026-02-09T13:42:38Z</dcterms:created>
  <dcterms:modified xsi:type="dcterms:W3CDTF">2026-02-09T19:18:51Z</dcterms:modified>
</cp:coreProperties>
</file>