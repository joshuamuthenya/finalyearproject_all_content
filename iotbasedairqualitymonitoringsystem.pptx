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4036" r:id="rId1"/>
  </p:sldMasterIdLst>
  <p:notesMasterIdLst>
    <p:notesMasterId r:id="rId17"/>
  </p:notesMasterIdLst>
  <p:sldIdLst>
    <p:sldId id="256" r:id="rId2"/>
    <p:sldId id="258" r:id="rId3"/>
    <p:sldId id="267" r:id="rId4"/>
    <p:sldId id="260" r:id="rId5"/>
    <p:sldId id="268" r:id="rId6"/>
    <p:sldId id="265" r:id="rId7"/>
    <p:sldId id="270" r:id="rId8"/>
    <p:sldId id="272" r:id="rId9"/>
    <p:sldId id="266" r:id="rId10"/>
    <p:sldId id="261" r:id="rId11"/>
    <p:sldId id="271" r:id="rId12"/>
    <p:sldId id="263" r:id="rId13"/>
    <p:sldId id="274" r:id="rId14"/>
    <p:sldId id="264" r:id="rId15"/>
    <p:sldId id="273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79" d="100"/>
          <a:sy n="79" d="100"/>
        </p:scale>
        <p:origin x="42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Joshua\Desktop\Gantt_Chart_Project_Plan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bar"/>
        <c:grouping val="stacked"/>
        <c:varyColors val="0"/>
        <c:ser>
          <c:idx val="1"/>
          <c:order val="0"/>
          <c:tx>
            <c:v>s</c:v>
          </c:tx>
          <c:spPr>
            <a:noFill/>
            <a:ln>
              <a:noFill/>
            </a:ln>
            <a:effectLst/>
          </c:spPr>
          <c:invertIfNegative val="0"/>
          <c:val>
            <c:numRef>
              <c:f>Gantt_Data!$G$2:$G$17</c:f>
              <c:numCache>
                <c:formatCode>[$-409]d\-mmm\-yyyy;@</c:formatCode>
                <c:ptCount val="16"/>
                <c:pt idx="0">
                  <c:v>45901</c:v>
                </c:pt>
                <c:pt idx="1">
                  <c:v>45915</c:v>
                </c:pt>
                <c:pt idx="2">
                  <c:v>45936</c:v>
                </c:pt>
                <c:pt idx="3">
                  <c:v>45971</c:v>
                </c:pt>
                <c:pt idx="4">
                  <c:v>45978</c:v>
                </c:pt>
                <c:pt idx="5">
                  <c:v>45985</c:v>
                </c:pt>
                <c:pt idx="6">
                  <c:v>45992</c:v>
                </c:pt>
                <c:pt idx="7">
                  <c:v>46006</c:v>
                </c:pt>
                <c:pt idx="8">
                  <c:v>46027</c:v>
                </c:pt>
                <c:pt idx="9">
                  <c:v>46048</c:v>
                </c:pt>
                <c:pt idx="10">
                  <c:v>46063</c:v>
                </c:pt>
                <c:pt idx="11">
                  <c:v>46082</c:v>
                </c:pt>
                <c:pt idx="12">
                  <c:v>46091</c:v>
                </c:pt>
                <c:pt idx="13">
                  <c:v>46104</c:v>
                </c:pt>
                <c:pt idx="14">
                  <c:v>46118</c:v>
                </c:pt>
                <c:pt idx="15">
                  <c:v>46138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D76-49CA-BA9D-175C09CC8C62}"/>
            </c:ext>
          </c:extLst>
        </c:ser>
        <c:ser>
          <c:idx val="0"/>
          <c:order val="1"/>
          <c:tx>
            <c:strRef>
              <c:f>Gantt_Data!$H$1</c:f>
              <c:strCache>
                <c:ptCount val="1"/>
                <c:pt idx="0">
                  <c:v>Duration for Gantt (Days)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Gantt_Data!$A$2:$A$17</c:f>
              <c:strCache>
                <c:ptCount val="16"/>
                <c:pt idx="0">
                  <c:v>Project Incubation &amp; Topic Refinement</c:v>
                </c:pt>
                <c:pt idx="1">
                  <c:v>Introduction and Background Study</c:v>
                </c:pt>
                <c:pt idx="2">
                  <c:v>Literature Review</c:v>
                </c:pt>
                <c:pt idx="3">
                  <c:v>Problem Definition</c:v>
                </c:pt>
                <c:pt idx="4">
                  <c:v>Objectives Finalization</c:v>
                </c:pt>
                <c:pt idx="5">
                  <c:v>Methodology Development</c:v>
                </c:pt>
                <c:pt idx="6">
                  <c:v>Proposal Writing and Submission</c:v>
                </c:pt>
                <c:pt idx="7">
                  <c:v>Proposal Presentation</c:v>
                </c:pt>
                <c:pt idx="8">
                  <c:v>System Architecture &amp; Design</c:v>
                </c:pt>
                <c:pt idx="9">
                  <c:v>Hardware Design &amp; Integration</c:v>
                </c:pt>
                <c:pt idx="10">
                  <c:v>Firmware Development</c:v>
                </c:pt>
                <c:pt idx="11">
                  <c:v>Cloud and Database Integration</c:v>
                </c:pt>
                <c:pt idx="12">
                  <c:v>Web Application Development</c:v>
                </c:pt>
                <c:pt idx="13">
                  <c:v>Machine Learning Integration</c:v>
                </c:pt>
                <c:pt idx="14">
                  <c:v>Testing &amp; Documentation</c:v>
                </c:pt>
                <c:pt idx="15">
                  <c:v>Presentation &amp; Submission</c:v>
                </c:pt>
              </c:strCache>
            </c:strRef>
          </c:cat>
          <c:val>
            <c:numRef>
              <c:f>Gantt_Data!$H$2:$H$17</c:f>
              <c:numCache>
                <c:formatCode>General</c:formatCode>
                <c:ptCount val="16"/>
                <c:pt idx="0">
                  <c:v>13</c:v>
                </c:pt>
                <c:pt idx="1">
                  <c:v>20</c:v>
                </c:pt>
                <c:pt idx="2">
                  <c:v>34</c:v>
                </c:pt>
                <c:pt idx="3">
                  <c:v>7</c:v>
                </c:pt>
                <c:pt idx="4">
                  <c:v>7</c:v>
                </c:pt>
                <c:pt idx="5">
                  <c:v>7</c:v>
                </c:pt>
                <c:pt idx="6">
                  <c:v>14</c:v>
                </c:pt>
                <c:pt idx="7">
                  <c:v>6</c:v>
                </c:pt>
                <c:pt idx="8">
                  <c:v>20</c:v>
                </c:pt>
                <c:pt idx="9">
                  <c:v>21</c:v>
                </c:pt>
                <c:pt idx="10">
                  <c:v>28</c:v>
                </c:pt>
                <c:pt idx="11">
                  <c:v>21</c:v>
                </c:pt>
                <c:pt idx="12">
                  <c:v>26</c:v>
                </c:pt>
                <c:pt idx="13">
                  <c:v>14</c:v>
                </c:pt>
                <c:pt idx="14">
                  <c:v>19</c:v>
                </c:pt>
                <c:pt idx="1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D76-49CA-BA9D-175C09CC8C6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100"/>
        <c:axId val="817393664"/>
        <c:axId val="817411904"/>
      </c:barChart>
      <c:catAx>
        <c:axId val="817393664"/>
        <c:scaling>
          <c:orientation val="maxMin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0" baseline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817411904"/>
        <c:crosses val="autoZero"/>
        <c:auto val="1"/>
        <c:lblAlgn val="ctr"/>
        <c:lblOffset val="100"/>
        <c:noMultiLvlLbl val="0"/>
      </c:catAx>
      <c:valAx>
        <c:axId val="817411904"/>
        <c:scaling>
          <c:orientation val="minMax"/>
          <c:min val="45901"/>
        </c:scaling>
        <c:delete val="0"/>
        <c:axPos val="t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 dd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cap="none" spc="0" baseline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pPr>
            <a:endParaRPr lang="en-US"/>
          </a:p>
        </c:txPr>
        <c:crossAx val="81739366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/>
    </a:solidFill>
    <a:ln w="9525" cap="flat" cmpd="sng" algn="ctr">
      <a:solidFill>
        <a:srgbClr val="00B050"/>
      </a:solidFill>
      <a:round/>
    </a:ln>
    <a:effectLst/>
  </c:spPr>
  <c:txPr>
    <a:bodyPr/>
    <a:lstStyle/>
    <a:p>
      <a:pPr>
        <a:defRPr sz="1200" b="0" cap="none" spc="0">
          <a:ln w="0"/>
          <a:solidFill>
            <a:schemeClr val="tx1"/>
          </a:solidFill>
          <a:effectLst>
            <a:outerShdw blurRad="38100" dist="19050" dir="2700000" algn="tl" rotWithShape="0">
              <a:schemeClr val="dk1">
                <a:alpha val="40000"/>
              </a:schemeClr>
            </a:outerShdw>
          </a:effectLst>
          <a:latin typeface="Times New Roman" panose="02020603050405020304" pitchFamily="18" charset="0"/>
          <a:cs typeface="Times New Roman" panose="02020603050405020304" pitchFamily="18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870600C-22C0-4997-A48F-5CF345EA5A41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6BEAD9-0D7D-4034-AF28-78E2BA7875A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30931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48300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647F38-B617-4D2F-AE0A-013F0C4D2C57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1680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60649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FA754-D5C3-4E66-96A6-867B257F58DC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0482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3924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1916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8072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50103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975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3758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277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960589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27047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7690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949600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75609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167184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2/10/2026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3501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37" r:id="rId1"/>
    <p:sldLayoutId id="2147484038" r:id="rId2"/>
    <p:sldLayoutId id="2147484039" r:id="rId3"/>
    <p:sldLayoutId id="2147484040" r:id="rId4"/>
    <p:sldLayoutId id="2147484041" r:id="rId5"/>
    <p:sldLayoutId id="2147484042" r:id="rId6"/>
    <p:sldLayoutId id="2147484043" r:id="rId7"/>
    <p:sldLayoutId id="2147484044" r:id="rId8"/>
    <p:sldLayoutId id="2147484045" r:id="rId9"/>
    <p:sldLayoutId id="2147484046" r:id="rId10"/>
    <p:sldLayoutId id="2147484047" r:id="rId11"/>
    <p:sldLayoutId id="2147484048" r:id="rId12"/>
    <p:sldLayoutId id="2147484049" r:id="rId13"/>
    <p:sldLayoutId id="2147484050" r:id="rId14"/>
    <p:sldLayoutId id="2147484051" r:id="rId15"/>
    <p:sldLayoutId id="2147484052" r:id="rId16"/>
    <p:sldLayoutId id="214748405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fi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jfi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fif"/><Relationship Id="rId2" Type="http://schemas.openxmlformats.org/officeDocument/2006/relationships/image" Target="../media/image7.jfi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fif"/><Relationship Id="rId2" Type="http://schemas.openxmlformats.org/officeDocument/2006/relationships/image" Target="../media/image9.jfi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fif"/><Relationship Id="rId2" Type="http://schemas.openxmlformats.org/officeDocument/2006/relationships/image" Target="../media/image12.jf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f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fif"/><Relationship Id="rId7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jfif"/><Relationship Id="rId5" Type="http://schemas.openxmlformats.org/officeDocument/2006/relationships/image" Target="../media/image15.jfif"/><Relationship Id="rId4" Type="http://schemas.openxmlformats.org/officeDocument/2006/relationships/image" Target="../media/image12.jf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fif"/><Relationship Id="rId2" Type="http://schemas.openxmlformats.org/officeDocument/2006/relationships/image" Target="../media/image18.jfif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fif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jf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fif"/><Relationship Id="rId2" Type="http://schemas.openxmlformats.org/officeDocument/2006/relationships/image" Target="../media/image22.jfi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jfif"/><Relationship Id="rId4" Type="http://schemas.openxmlformats.org/officeDocument/2006/relationships/image" Target="../media/image24.jfif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fif"/><Relationship Id="rId2" Type="http://schemas.openxmlformats.org/officeDocument/2006/relationships/image" Target="../media/image26.jf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fif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fif"/><Relationship Id="rId5" Type="http://schemas.openxmlformats.org/officeDocument/2006/relationships/image" Target="../media/image19.jfif"/><Relationship Id="rId4" Type="http://schemas.openxmlformats.org/officeDocument/2006/relationships/image" Target="../media/image28.jfif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fif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f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fif"/><Relationship Id="rId2" Type="http://schemas.openxmlformats.org/officeDocument/2006/relationships/image" Target="../media/image31.jfi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fi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fif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28325" y="512763"/>
            <a:ext cx="7852224" cy="1992212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2143316" y="3244334"/>
            <a:ext cx="790536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3200" b="1" i="1" dirty="0"/>
              <a:t>IOT-BASED AIR QUALITY MONITORING </a:t>
            </a:r>
            <a:r>
              <a:rPr lang="en-US" sz="3200" b="1" i="1" dirty="0" smtClean="0"/>
              <a:t>SYSTEM</a:t>
            </a:r>
          </a:p>
          <a:p>
            <a:pPr algn="ctr"/>
            <a:r>
              <a:rPr lang="en-US" sz="3200" b="1" i="1" dirty="0" smtClean="0"/>
              <a:t>PROPOSAL PRESETATION</a:t>
            </a:r>
            <a:endParaRPr lang="en-US" sz="3200" b="1" i="1" dirty="0"/>
          </a:p>
        </p:txBody>
      </p:sp>
      <p:sp>
        <p:nvSpPr>
          <p:cNvPr id="13" name="Rectangle 12"/>
          <p:cNvSpPr/>
          <p:nvPr/>
        </p:nvSpPr>
        <p:spPr>
          <a:xfrm>
            <a:off x="5162842" y="4333468"/>
            <a:ext cx="3080825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/>
              <a:t>Joshua </a:t>
            </a:r>
            <a:r>
              <a:rPr lang="en-US" sz="2800" b="1" dirty="0" smtClean="0"/>
              <a:t>Wambua</a:t>
            </a:r>
            <a:endParaRPr lang="en-US" sz="2800" dirty="0"/>
          </a:p>
          <a:p>
            <a:r>
              <a:rPr lang="en-US" sz="2800" b="1" dirty="0"/>
              <a:t>EG209/109705/22</a:t>
            </a:r>
            <a:endParaRPr lang="en-US" sz="2800" dirty="0"/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85070" y="5564574"/>
            <a:ext cx="9087729" cy="4924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BTech. Electrical and Electronic Engineering</a:t>
            </a:r>
            <a:endParaRPr lang="en-US" sz="2600" dirty="0"/>
          </a:p>
        </p:txBody>
      </p:sp>
      <p:sp>
        <p:nvSpPr>
          <p:cNvPr id="3" name="Oval 2"/>
          <p:cNvSpPr/>
          <p:nvPr/>
        </p:nvSpPr>
        <p:spPr>
          <a:xfrm>
            <a:off x="168811" y="507363"/>
            <a:ext cx="1547447" cy="1997612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Connector 4"/>
          <p:cNvSpPr/>
          <p:nvPr/>
        </p:nvSpPr>
        <p:spPr>
          <a:xfrm>
            <a:off x="9720774" y="717302"/>
            <a:ext cx="1814733" cy="1195754"/>
          </a:xfrm>
          <a:prstGeom prst="flowChartConnector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02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2608580" y="400903"/>
            <a:ext cx="5443220" cy="564297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Background of the study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097280" y="1410592"/>
            <a:ext cx="10043134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 pollution is a growing public health and environmental concern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worldwide.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Urbanization and industrial activities increase emission of harmful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gases and particulate matter.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Pollutants such as CO, LPG, PM2.5 and PM10 cause serious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health problems.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Gas leaks in domestic environments pose risks of fire, explosions, and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poisoning.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air quality monitoring systems are centralized and expensive.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Households lack access to real-time, localized air quality information.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Advances in IoT enable low-cost, real-time monitoring solutions.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project proposes an IoT-based system for 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24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monitoring and early warning.</a:t>
            </a:r>
          </a:p>
        </p:txBody>
      </p:sp>
      <p:sp>
        <p:nvSpPr>
          <p:cNvPr id="2" name="Rectangle 1"/>
          <p:cNvSpPr/>
          <p:nvPr/>
        </p:nvSpPr>
        <p:spPr>
          <a:xfrm>
            <a:off x="8051800" y="140677"/>
            <a:ext cx="3891671" cy="1425526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3" name="Flowchart: Connector 2"/>
          <p:cNvSpPr/>
          <p:nvPr/>
        </p:nvSpPr>
        <p:spPr>
          <a:xfrm>
            <a:off x="492368" y="140677"/>
            <a:ext cx="1955410" cy="1425525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7947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5680" y="548640"/>
            <a:ext cx="4315968" cy="615696"/>
          </a:xfrm>
        </p:spPr>
        <p:txBody>
          <a:bodyPr>
            <a:normAutofit/>
          </a:bodyPr>
          <a:lstStyle/>
          <a:p>
            <a:pPr algn="ctr"/>
            <a:r>
              <a:rPr lang="en-US" u="sng" dirty="0" smtClean="0"/>
              <a:t>Problem Statement</a:t>
            </a:r>
            <a:endParaRPr lang="en-US" u="sng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206500" y="2185977"/>
            <a:ext cx="10445488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Air pollution and gas leaks often go undetected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in homes and small premises.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Existing air quality monitoring systems are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expensive and inaccessible to individuals.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Lack of real-time, localized monitoring increases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health and safety risks.</a:t>
            </a:r>
          </a:p>
        </p:txBody>
      </p:sp>
      <p:sp>
        <p:nvSpPr>
          <p:cNvPr id="6" name="Oval 5"/>
          <p:cNvSpPr/>
          <p:nvPr/>
        </p:nvSpPr>
        <p:spPr>
          <a:xfrm>
            <a:off x="478301" y="323557"/>
            <a:ext cx="2489981" cy="1280160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9748911" y="548640"/>
            <a:ext cx="1631852" cy="1294228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6486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20768" y="707136"/>
            <a:ext cx="2438400" cy="585216"/>
          </a:xfrm>
        </p:spPr>
        <p:txBody>
          <a:bodyPr>
            <a:normAutofit/>
          </a:bodyPr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1097280" y="1845733"/>
            <a:ext cx="10058400" cy="4217441"/>
          </a:xfrm>
        </p:spPr>
        <p:txBody>
          <a:bodyPr>
            <a:normAutofit fontScale="40000" lnSpcReduction="20000"/>
          </a:bodyPr>
          <a:lstStyle/>
          <a:p>
            <a:pPr algn="ctr"/>
            <a:r>
              <a:rPr lang="en-US" sz="5100" b="1" dirty="0"/>
              <a:t>Main Objective</a:t>
            </a:r>
          </a:p>
          <a:p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design a scalable IoT-Based Air Quality Monitoring System with real-time detection, prediction, alerts, and actuation.</a:t>
            </a:r>
          </a:p>
          <a:p>
            <a:pPr algn="ctr"/>
            <a:r>
              <a:rPr lang="en-US" sz="51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Monitor particulate matter and hazardous gases in real time.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Measure temperature and humidity.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Enable remote monitoring via a cloud-based web application.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 instant alerts when unsafe levels are detected.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5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 a safety response system.</a:t>
            </a:r>
          </a:p>
          <a:p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1097280" y="171678"/>
            <a:ext cx="3207434" cy="1674055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gular Pentagon 4"/>
          <p:cNvSpPr/>
          <p:nvPr/>
        </p:nvSpPr>
        <p:spPr>
          <a:xfrm>
            <a:off x="9298744" y="171678"/>
            <a:ext cx="2504049" cy="2107288"/>
          </a:xfrm>
          <a:prstGeom prst="pentagon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37201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35680" y="536448"/>
            <a:ext cx="3852672" cy="694944"/>
          </a:xfrm>
        </p:spPr>
        <p:txBody>
          <a:bodyPr>
            <a:normAutofit/>
          </a:bodyPr>
          <a:lstStyle/>
          <a:p>
            <a:r>
              <a:rPr lang="en-US" dirty="0" smtClean="0"/>
              <a:t>Literature review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73109266"/>
              </p:ext>
            </p:extLst>
          </p:nvPr>
        </p:nvGraphicFramePr>
        <p:xfrm>
          <a:off x="1097280" y="1737360"/>
          <a:ext cx="10058400" cy="4572000"/>
        </p:xfrm>
        <a:graphic>
          <a:graphicData uri="http://schemas.openxmlformats.org/drawingml/2006/table">
            <a:tbl>
              <a:tblPr/>
              <a:tblGrid>
                <a:gridCol w="2514600">
                  <a:extLst>
                    <a:ext uri="{9D8B030D-6E8A-4147-A177-3AD203B41FA5}">
                      <a16:colId xmlns:a16="http://schemas.microsoft.com/office/drawing/2014/main" val="15010115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3691690128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824541575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7817693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2400"/>
                        <a:t>Author &amp; Year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Focus Area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Key Findings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Identified Gap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615839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Bagkis et al. (2025)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Low-cost sensor networks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Scalable but accuracy issues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Limited household deployment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8990132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Concas et al. (2021)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Sensor calibration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Accuracy affected by drift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Need ML calibration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7995010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/>
                        <a:t>Garcia et al. (2025)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IoT &amp; AI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Real-time analytics possible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Limited safety response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52642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 dirty="0"/>
                        <a:t>Gatari et al. (2018)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Kenyan PM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Reliable low-cost sensors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/>
                        <a:t>Sparse local coverage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5963003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2400"/>
                        <a:t>Ramesh et al. (2024)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IoT monitoring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Real-time data &amp; alerts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dirty="0"/>
                        <a:t>Limited prediction </a:t>
                      </a:r>
                      <a:r>
                        <a:rPr lang="en-US" sz="2400" dirty="0" smtClean="0"/>
                        <a:t>capability</a:t>
                      </a:r>
                      <a:endParaRPr lang="en-US" sz="2400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01415771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10114671" y="569976"/>
            <a:ext cx="914400" cy="9144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1391764" y="358726"/>
            <a:ext cx="914400" cy="914400"/>
          </a:xfrm>
          <a:prstGeom prst="ellipse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gular Pentagon 5"/>
          <p:cNvSpPr/>
          <p:nvPr/>
        </p:nvSpPr>
        <p:spPr>
          <a:xfrm>
            <a:off x="10932356" y="4206239"/>
            <a:ext cx="960120" cy="914400"/>
          </a:xfrm>
          <a:prstGeom prst="pentagon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7127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084320" y="426720"/>
            <a:ext cx="3462528" cy="652272"/>
          </a:xfrm>
        </p:spPr>
        <p:txBody>
          <a:bodyPr>
            <a:normAutofit/>
          </a:bodyPr>
          <a:lstStyle/>
          <a:p>
            <a:r>
              <a:rPr lang="en-US" dirty="0" smtClean="0"/>
              <a:t>Methodology </a:t>
            </a:r>
            <a:endParaRPr lang="en-US" dirty="0"/>
          </a:p>
        </p:txBody>
      </p:sp>
      <p:pic>
        <p:nvPicPr>
          <p:cNvPr id="4" name="Content Placeholder 3" descr="C:\Users\Joshua\Pictures\Screenshots\Screenshot (863).png"/>
          <p:cNvPicPr>
            <a:picLocks noGrp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680546" y="2602500"/>
            <a:ext cx="8830907" cy="29531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Flowchart: Connector 2"/>
          <p:cNvSpPr/>
          <p:nvPr/>
        </p:nvSpPr>
        <p:spPr>
          <a:xfrm>
            <a:off x="890523" y="638365"/>
            <a:ext cx="2166425" cy="1399735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lowchart: Connector 4"/>
          <p:cNvSpPr/>
          <p:nvPr/>
        </p:nvSpPr>
        <p:spPr>
          <a:xfrm>
            <a:off x="9101797" y="295422"/>
            <a:ext cx="2560319" cy="2085622"/>
          </a:xfrm>
          <a:prstGeom prst="flowChartConnector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9622302" y="3826412"/>
            <a:ext cx="2301474" cy="2172052"/>
          </a:xfrm>
          <a:prstGeom prst="ellipse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92369" y="2194559"/>
            <a:ext cx="1218340" cy="2532185"/>
          </a:xfrm>
          <a:prstGeom prst="ellipse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4403188" y="1078992"/>
            <a:ext cx="2841674" cy="1354719"/>
          </a:xfrm>
          <a:prstGeom prst="rect">
            <a:avLst/>
          </a:prstGeom>
          <a:blipFill>
            <a:blip r:embed="rId7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0408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53056" y="573024"/>
            <a:ext cx="6900672" cy="62179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smtClean="0"/>
              <a:t>Methodology-System Operation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quarter" idx="13"/>
          </p:nvPr>
        </p:nvSpPr>
        <p:spPr>
          <a:xfrm>
            <a:off x="1097280" y="1743456"/>
            <a:ext cx="10058400" cy="4511040"/>
          </a:xfrm>
        </p:spPr>
        <p:txBody>
          <a:bodyPr>
            <a:normAutofit fontScale="92500" lnSpcReduction="2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2800" dirty="0" smtClean="0">
                <a:solidFill>
                  <a:schemeClr val="tx1"/>
                </a:solidFill>
              </a:rPr>
              <a:t>Sensors </a:t>
            </a:r>
            <a:r>
              <a:rPr lang="en-US" sz="2800" dirty="0">
                <a:solidFill>
                  <a:schemeClr val="tx1"/>
                </a:solidFill>
              </a:rPr>
              <a:t>continuously measure air pollutants and environmental parameters.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ESP32 processes and evaluates sensor data locally.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Unsafe conditions trigger immediate alerts and safety actions.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Data is transmitted to Firebase via Wi-Fi.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Web application displays real-time and historical data.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800" dirty="0">
                <a:solidFill>
                  <a:schemeClr val="tx1"/>
                </a:solidFill>
              </a:rPr>
              <a:t>Machine learning models predict trends and detect anomalies.</a:t>
            </a:r>
          </a:p>
          <a:p>
            <a:endParaRPr lang="en-US" dirty="0"/>
          </a:p>
        </p:txBody>
      </p:sp>
      <p:sp>
        <p:nvSpPr>
          <p:cNvPr id="4" name="Rounded Rectangle 3"/>
          <p:cNvSpPr/>
          <p:nvPr/>
        </p:nvSpPr>
        <p:spPr>
          <a:xfrm>
            <a:off x="10578904" y="1448971"/>
            <a:ext cx="1420837" cy="2447779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lowchart: Connector 4"/>
          <p:cNvSpPr/>
          <p:nvPr/>
        </p:nvSpPr>
        <p:spPr>
          <a:xfrm>
            <a:off x="1209821" y="436098"/>
            <a:ext cx="858129" cy="1215918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407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7275" y="258468"/>
            <a:ext cx="8806376" cy="585594"/>
          </a:xfrm>
        </p:spPr>
        <p:txBody>
          <a:bodyPr>
            <a:normAutofit/>
          </a:bodyPr>
          <a:lstStyle/>
          <a:p>
            <a:r>
              <a:rPr lang="en-US" dirty="0" smtClean="0"/>
              <a:t>METHODOLOGY-LOGICAL FLOW CHART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8627" y="844062"/>
            <a:ext cx="7484013" cy="5880295"/>
          </a:xfr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673" y="3215199"/>
            <a:ext cx="2895600" cy="28761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100604" y="3215199"/>
            <a:ext cx="1625990" cy="2974585"/>
          </a:xfrm>
          <a:prstGeom prst="round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06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45408" y="499872"/>
            <a:ext cx="4389120" cy="640080"/>
          </a:xfrm>
        </p:spPr>
        <p:txBody>
          <a:bodyPr>
            <a:normAutofit/>
          </a:bodyPr>
          <a:lstStyle/>
          <a:p>
            <a:r>
              <a:rPr lang="en-US" dirty="0" smtClean="0"/>
              <a:t>Expected Results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097280" y="2149254"/>
            <a:ext cx="11291874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monitoring of air pollutants and hazardous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gases.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Early detection of gas leaks and fire risks.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Automated alerts and notifications.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Accessible web-based visualization.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3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Improved environmental awareness and safety.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184" y="499872"/>
            <a:ext cx="2280168" cy="155257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7459" y="317623"/>
            <a:ext cx="2143125" cy="1831632"/>
          </a:xfrm>
          <a:prstGeom prst="rect">
            <a:avLst/>
          </a:prstGeom>
        </p:spPr>
      </p:pic>
      <p:sp>
        <p:nvSpPr>
          <p:cNvPr id="6" name="Round Diagonal Corner Rectangle 5"/>
          <p:cNvSpPr/>
          <p:nvPr/>
        </p:nvSpPr>
        <p:spPr>
          <a:xfrm>
            <a:off x="2110154" y="5662381"/>
            <a:ext cx="3910818" cy="1526210"/>
          </a:xfrm>
          <a:prstGeom prst="round2Diag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10381957" y="3158557"/>
            <a:ext cx="1463040" cy="1849541"/>
          </a:xfrm>
          <a:prstGeom prst="flowChartConnector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59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8303" y="365760"/>
            <a:ext cx="3923005" cy="603504"/>
          </a:xfrm>
        </p:spPr>
        <p:txBody>
          <a:bodyPr>
            <a:normAutofit/>
          </a:bodyPr>
          <a:lstStyle/>
          <a:p>
            <a:r>
              <a:rPr lang="en-US" dirty="0" smtClean="0"/>
              <a:t>Work plan </a:t>
            </a:r>
            <a:endParaRPr lang="en-US" dirty="0"/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3137100356"/>
              </p:ext>
            </p:extLst>
          </p:nvPr>
        </p:nvGraphicFramePr>
        <p:xfrm>
          <a:off x="3712090" y="81580"/>
          <a:ext cx="6374445" cy="612227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60713">
                  <a:extLst>
                    <a:ext uri="{9D8B030D-6E8A-4147-A177-3AD203B41FA5}">
                      <a16:colId xmlns:a16="http://schemas.microsoft.com/office/drawing/2014/main" val="3059640099"/>
                    </a:ext>
                  </a:extLst>
                </a:gridCol>
                <a:gridCol w="1428029">
                  <a:extLst>
                    <a:ext uri="{9D8B030D-6E8A-4147-A177-3AD203B41FA5}">
                      <a16:colId xmlns:a16="http://schemas.microsoft.com/office/drawing/2014/main" val="3614766440"/>
                    </a:ext>
                  </a:extLst>
                </a:gridCol>
                <a:gridCol w="1787178">
                  <a:extLst>
                    <a:ext uri="{9D8B030D-6E8A-4147-A177-3AD203B41FA5}">
                      <a16:colId xmlns:a16="http://schemas.microsoft.com/office/drawing/2014/main" val="62219545"/>
                    </a:ext>
                  </a:extLst>
                </a:gridCol>
                <a:gridCol w="798525">
                  <a:extLst>
                    <a:ext uri="{9D8B030D-6E8A-4147-A177-3AD203B41FA5}">
                      <a16:colId xmlns:a16="http://schemas.microsoft.com/office/drawing/2014/main" val="1832804930"/>
                    </a:ext>
                  </a:extLst>
                </a:gridCol>
              </a:tblGrid>
              <a:tr h="33529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Activity</a:t>
                      </a:r>
                      <a:endParaRPr lang="en-US" sz="1200" b="1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Start Date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End Date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Days</a:t>
                      </a:r>
                      <a:endParaRPr lang="en-US" sz="12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90490872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Project Incubation &amp; Topic Refinement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01-Sep-2025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14-Sep-2025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13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07073194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Introduction and Background Study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15-Sep-2025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05-Oct-2025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84442077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Literature Review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06-Oct-2025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09-Nov-2025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17545911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Problem Definition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54856901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Objectives Finalization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17-Nov-2025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252864770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Methodology Development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24-Nov-2025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30-Nov-2025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45542551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Proposal Writing and Submission</a:t>
                      </a:r>
                      <a:endParaRPr lang="en-US" sz="1200" b="0" i="0" u="none" strike="noStrike" dirty="0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85419387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Proposal Presentation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15-Dec-2025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21-Dec-2025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4854988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System Architecture &amp; Design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05-Jan-2026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25-Jan-2026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48658788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Hardware Design &amp; Integration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26-Jan-2026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16-Feb-2026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31278439"/>
                  </a:ext>
                </a:extLst>
              </a:tr>
              <a:tr h="26501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Firmware Development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10-Feb-2026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28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04412210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 and Database Integration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01-Mar-2026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22-Mar-2026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21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091203726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Web Application Development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283426263"/>
                  </a:ext>
                </a:extLst>
              </a:tr>
              <a:tr h="41696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Machine Learning Integration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23-Mar-2026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05-Apr-2026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14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442308"/>
                  </a:ext>
                </a:extLst>
              </a:tr>
              <a:tr h="379622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Testing &amp; Documentation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06-Apr-2026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19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62069148"/>
                  </a:ext>
                </a:extLst>
              </a:tr>
              <a:tr h="329639"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Presentation &amp; Submission</a:t>
                      </a:r>
                      <a:endParaRPr lang="en-US" sz="1200" b="0" i="0" u="none" strike="noStrike">
                        <a:solidFill>
                          <a:srgbClr val="00206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26-Apr-2026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30-Apr-2026</a:t>
                      </a:r>
                      <a:endParaRPr lang="en-US" sz="12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200" u="none" strike="noStrike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19365584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507" y="1336430"/>
            <a:ext cx="2779583" cy="2813539"/>
          </a:xfrm>
          <a:prstGeom prst="rect">
            <a:avLst/>
          </a:prstGeom>
        </p:spPr>
      </p:pic>
      <p:sp>
        <p:nvSpPr>
          <p:cNvPr id="3" name="Flowchart: Connector 2"/>
          <p:cNvSpPr/>
          <p:nvPr/>
        </p:nvSpPr>
        <p:spPr>
          <a:xfrm>
            <a:off x="10185009" y="1336430"/>
            <a:ext cx="2006991" cy="2293035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478303" y="4149969"/>
            <a:ext cx="2264898" cy="2053883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0878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94048" y="365760"/>
            <a:ext cx="3035808" cy="603504"/>
          </a:xfrm>
        </p:spPr>
        <p:txBody>
          <a:bodyPr>
            <a:normAutofit/>
          </a:bodyPr>
          <a:lstStyle/>
          <a:p>
            <a:r>
              <a:rPr lang="en-US" dirty="0" smtClean="0"/>
              <a:t>Gantt Chart </a:t>
            </a: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7E30C3D-59EC-A11E-7BCC-3AA8C9638BE6}"/>
              </a:ext>
            </a:extLst>
          </p:cNvPr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386815719"/>
              </p:ext>
            </p:extLst>
          </p:nvPr>
        </p:nvGraphicFramePr>
        <p:xfrm>
          <a:off x="1096963" y="1085089"/>
          <a:ext cx="10058400" cy="5242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5" name="Flowchart: Connector 4"/>
          <p:cNvSpPr/>
          <p:nvPr/>
        </p:nvSpPr>
        <p:spPr>
          <a:xfrm>
            <a:off x="450166" y="1"/>
            <a:ext cx="1786598" cy="1085088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lowchart: Connector 5"/>
          <p:cNvSpPr/>
          <p:nvPr/>
        </p:nvSpPr>
        <p:spPr>
          <a:xfrm>
            <a:off x="11246486" y="787791"/>
            <a:ext cx="675883" cy="675249"/>
          </a:xfrm>
          <a:prstGeom prst="flowChartConnector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196948" y="5205046"/>
            <a:ext cx="808892" cy="991772"/>
          </a:xfrm>
          <a:prstGeom prst="flowChartConnector">
            <a:avLst/>
          </a:prstGeom>
          <a:blipFill>
            <a:blip r:embed="rId5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8" name="Flowchart: Connector 7"/>
          <p:cNvSpPr/>
          <p:nvPr/>
        </p:nvSpPr>
        <p:spPr>
          <a:xfrm>
            <a:off x="11295722" y="4811151"/>
            <a:ext cx="788425" cy="1157067"/>
          </a:xfrm>
          <a:prstGeom prst="flowChartConnector">
            <a:avLst/>
          </a:prstGeom>
          <a:blipFill>
            <a:blip r:embed="rId6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997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58112" y="304800"/>
            <a:ext cx="2548128" cy="749808"/>
          </a:xfrm>
        </p:spPr>
        <p:txBody>
          <a:bodyPr>
            <a:normAutofit/>
          </a:bodyPr>
          <a:lstStyle/>
          <a:p>
            <a:r>
              <a:rPr lang="en-US" dirty="0" smtClean="0"/>
              <a:t>Budget </a:t>
            </a:r>
            <a:endParaRPr lang="en-US" dirty="0"/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1877502172"/>
              </p:ext>
            </p:extLst>
          </p:nvPr>
        </p:nvGraphicFramePr>
        <p:xfrm>
          <a:off x="6094413" y="304800"/>
          <a:ext cx="5919396" cy="60281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91931">
                  <a:extLst>
                    <a:ext uri="{9D8B030D-6E8A-4147-A177-3AD203B41FA5}">
                      <a16:colId xmlns:a16="http://schemas.microsoft.com/office/drawing/2014/main" val="136912566"/>
                    </a:ext>
                  </a:extLst>
                </a:gridCol>
                <a:gridCol w="1827465">
                  <a:extLst>
                    <a:ext uri="{9D8B030D-6E8A-4147-A177-3AD203B41FA5}">
                      <a16:colId xmlns:a16="http://schemas.microsoft.com/office/drawing/2014/main" val="2097128566"/>
                    </a:ext>
                  </a:extLst>
                </a:gridCol>
              </a:tblGrid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COMPONENTS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COST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65972271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SENSORS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4400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286447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MICROCONTOLLER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1500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88356725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POWER SUPPLY UNIT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5900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054196917"/>
                  </a:ext>
                </a:extLst>
              </a:tr>
              <a:tr h="699392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Miscellaneous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 dirty="0">
                          <a:effectLst/>
                        </a:rPr>
                        <a:t>560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72871654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CONNECTIVITY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4500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13385067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ENCLOSURE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>
                          <a:effectLst/>
                        </a:rPr>
                        <a:t>1000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481471416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 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 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173852932"/>
                  </a:ext>
                </a:extLst>
              </a:tr>
              <a:tr h="666089">
                <a:tc>
                  <a:txBody>
                    <a:bodyPr/>
                    <a:lstStyle/>
                    <a:p>
                      <a:pPr algn="l" fontAlgn="b"/>
                      <a:r>
                        <a:rPr lang="en-US" sz="2800" u="none" strike="noStrike">
                          <a:effectLst/>
                        </a:rPr>
                        <a:t>TOTAL</a:t>
                      </a:r>
                      <a:endParaRPr lang="en-US" sz="2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2800" u="none" strike="noStrike" dirty="0">
                          <a:effectLst/>
                        </a:rPr>
                        <a:t>17860</a:t>
                      </a:r>
                      <a:endParaRPr lang="en-US" sz="2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73035753"/>
                  </a:ext>
                </a:extLst>
              </a:tr>
            </a:tbl>
          </a:graphicData>
        </a:graphic>
      </p:graphicFrame>
      <p:sp>
        <p:nvSpPr>
          <p:cNvPr id="3" name="Rounded Rectangle 2"/>
          <p:cNvSpPr/>
          <p:nvPr/>
        </p:nvSpPr>
        <p:spPr>
          <a:xfrm>
            <a:off x="689318" y="2208628"/>
            <a:ext cx="4994030" cy="4124276"/>
          </a:xfrm>
          <a:prstGeom prst="roundRec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7" name="Flowchart: Connector 6"/>
          <p:cNvSpPr/>
          <p:nvPr/>
        </p:nvSpPr>
        <p:spPr>
          <a:xfrm>
            <a:off x="2757268" y="1195754"/>
            <a:ext cx="1561514" cy="829994"/>
          </a:xfrm>
          <a:prstGeom prst="flowChartConnector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397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724005"/>
              </p:ext>
            </p:extLst>
          </p:nvPr>
        </p:nvGraphicFramePr>
        <p:xfrm>
          <a:off x="2255521" y="219465"/>
          <a:ext cx="9192767" cy="649791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34197">
                  <a:extLst>
                    <a:ext uri="{9D8B030D-6E8A-4147-A177-3AD203B41FA5}">
                      <a16:colId xmlns:a16="http://schemas.microsoft.com/office/drawing/2014/main" val="4237218066"/>
                    </a:ext>
                  </a:extLst>
                </a:gridCol>
                <a:gridCol w="1468397">
                  <a:extLst>
                    <a:ext uri="{9D8B030D-6E8A-4147-A177-3AD203B41FA5}">
                      <a16:colId xmlns:a16="http://schemas.microsoft.com/office/drawing/2014/main" val="843322446"/>
                    </a:ext>
                  </a:extLst>
                </a:gridCol>
                <a:gridCol w="3976905">
                  <a:extLst>
                    <a:ext uri="{9D8B030D-6E8A-4147-A177-3AD203B41FA5}">
                      <a16:colId xmlns:a16="http://schemas.microsoft.com/office/drawing/2014/main" val="4253951112"/>
                    </a:ext>
                  </a:extLst>
                </a:gridCol>
                <a:gridCol w="1575466">
                  <a:extLst>
                    <a:ext uri="{9D8B030D-6E8A-4147-A177-3AD203B41FA5}">
                      <a16:colId xmlns:a16="http://schemas.microsoft.com/office/drawing/2014/main" val="875289998"/>
                    </a:ext>
                  </a:extLst>
                </a:gridCol>
                <a:gridCol w="703605">
                  <a:extLst>
                    <a:ext uri="{9D8B030D-6E8A-4147-A177-3AD203B41FA5}">
                      <a16:colId xmlns:a16="http://schemas.microsoft.com/office/drawing/2014/main" val="4120883178"/>
                    </a:ext>
                  </a:extLst>
                </a:gridCol>
                <a:gridCol w="734197">
                  <a:extLst>
                    <a:ext uri="{9D8B030D-6E8A-4147-A177-3AD203B41FA5}">
                      <a16:colId xmlns:a16="http://schemas.microsoft.com/office/drawing/2014/main" val="2125016673"/>
                    </a:ext>
                  </a:extLst>
                </a:gridCol>
              </a:tblGrid>
              <a:tr h="211655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Serial No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Component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DESCRIPTION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Unit cost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Quantity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Total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362885308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 dirty="0">
                          <a:effectLst/>
                        </a:rPr>
                        <a:t>ESP 32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DOIT ESP32 DEVKIT V1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748600550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MQ-SERIES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MQ‑135 / MQ‑7 gas sensors (analog modules)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1600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1765256909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NOVA PM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SDS011 PM2.5/PM10 particulate sensor (UART)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2300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2300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383697989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BATTERY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12 V Li‑ion / lead‑acid battery, 2–5 Ah typical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1800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1800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3035887665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BATTERY CHARGER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TP4056 Li‑ion charger module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1647195463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PSU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AMS1117‑3.3 voltage regulator (3.3 V output).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3189609772"/>
                  </a:ext>
                </a:extLst>
              </a:tr>
              <a:tr h="367642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JUMPERS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20 cm male‑to‑male jumper wires. (common prototyping set)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250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232843735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STRIP BOARD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Standard perfboard, proto assembly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945455328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BREAD BOARD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Standard 830‑tie point breadboard.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1284502068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ENCLOSURE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wooden box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1511431979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INTERNET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Wi‑Fi data connection plan (monthly)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698799948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DHT11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Temp/humidity sensor module (5 V)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891420226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13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ACCESS POINT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Wi‑Fi router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2500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946548225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14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POWERBANK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10 000 mAh USB power bank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487114450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15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Miscellaneous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Screws, headers, mounts.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397258751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16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LEDS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5 mm LEDs (e.g., red, green, blue).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1852610362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17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BUZZER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5 V active piezo buzzer.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40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59117606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18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PUSH BUTTON 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Standard tactile push button/switch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1741520723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19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RESISTORS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Assorted: 10 kΩ, 4.7 kΩ, 1 kΩ, 220 Ω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3258545320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CAPACITORS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Decoupling and bulk: 100 µF, 10 µF, 0.1 µF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10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>
                          <a:effectLst/>
                        </a:rPr>
                        <a:t>200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397450198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2578140661"/>
                  </a:ext>
                </a:extLst>
              </a:tr>
              <a:tr h="211655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 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u="none" strike="noStrike">
                          <a:effectLst/>
                        </a:rPr>
                        <a:t>TOTAL</a:t>
                      </a:r>
                      <a:endParaRPr lang="en-US" sz="16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600" u="none" strike="noStrike" dirty="0">
                          <a:effectLst/>
                        </a:rPr>
                        <a:t>17860</a:t>
                      </a:r>
                      <a:endParaRPr lang="en-US" sz="16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873" marR="6873" marT="6873" marB="0" anchor="b"/>
                </a:tc>
                <a:extLst>
                  <a:ext uri="{0D108BD9-81ED-4DB2-BD59-A6C34878D82A}">
                    <a16:rowId xmlns:a16="http://schemas.microsoft.com/office/drawing/2014/main" val="3857381806"/>
                  </a:ext>
                </a:extLst>
              </a:tr>
            </a:tbl>
          </a:graphicData>
        </a:graphic>
      </p:graphicFrame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496" y="548640"/>
            <a:ext cx="2097025" cy="224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118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38016" y="487680"/>
            <a:ext cx="3791712" cy="786384"/>
          </a:xfrm>
        </p:spPr>
        <p:txBody>
          <a:bodyPr/>
          <a:lstStyle/>
          <a:p>
            <a:r>
              <a:rPr lang="en-US" dirty="0" smtClean="0"/>
              <a:t>Key References</a:t>
            </a:r>
            <a:endParaRPr lang="en-US" dirty="0"/>
          </a:p>
        </p:txBody>
      </p:sp>
      <p:sp>
        <p:nvSpPr>
          <p:cNvPr id="4" name="Rectangle 1"/>
          <p:cNvSpPr>
            <a:spLocks noGrp="1" noChangeArrowheads="1"/>
          </p:cNvSpPr>
          <p:nvPr>
            <p:ph sz="quarter" idx="13"/>
          </p:nvPr>
        </p:nvSpPr>
        <p:spPr bwMode="auto">
          <a:xfrm>
            <a:off x="1097280" y="2518586"/>
            <a:ext cx="9725226" cy="267765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Bagkis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npj Climate and Atmospheric Science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Concas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ACM TOSN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2021.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Garcia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Artificial Intelligence Review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Gatari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Atmospheric Chemistry and Physics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2018.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Ramesh et al.,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ICCES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Tastan, </a:t>
            </a:r>
            <a:r>
              <a:rPr kumimoji="0" lang="en-US" altLang="en-US" sz="2800" b="0" i="1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Sensors</a:t>
            </a:r>
            <a:r>
              <a:rPr kumimoji="0" lang="en-US" altLang="en-US" sz="2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2025.</a:t>
            </a:r>
          </a:p>
        </p:txBody>
      </p:sp>
      <p:sp>
        <p:nvSpPr>
          <p:cNvPr id="3" name="Oval 2"/>
          <p:cNvSpPr/>
          <p:nvPr/>
        </p:nvSpPr>
        <p:spPr>
          <a:xfrm>
            <a:off x="1097280" y="487680"/>
            <a:ext cx="2729132" cy="1903828"/>
          </a:xfrm>
          <a:prstGeom prst="ellipse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ounded Rectangle 4"/>
          <p:cNvSpPr/>
          <p:nvPr/>
        </p:nvSpPr>
        <p:spPr>
          <a:xfrm>
            <a:off x="10424160" y="487680"/>
            <a:ext cx="1392701" cy="1805354"/>
          </a:xfrm>
          <a:prstGeom prst="roundRect">
            <a:avLst/>
          </a:prstGeom>
          <a:blipFill>
            <a:blip r:embed="rId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6597749" y="4389120"/>
            <a:ext cx="5050300" cy="1969477"/>
          </a:xfrm>
          <a:prstGeom prst="rect">
            <a:avLst/>
          </a:prstGeom>
          <a:blipFill>
            <a:blip r:embed="rId4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0221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39000" b="-3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/>
          <p:cNvPicPr>
            <a:picLocks noGrp="1" noChangeAspect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2025" y="583489"/>
            <a:ext cx="10030264" cy="5578160"/>
          </a:xfrm>
        </p:spPr>
      </p:pic>
    </p:spTree>
    <p:extLst>
      <p:ext uri="{BB962C8B-B14F-4D97-AF65-F5344CB8AC3E}">
        <p14:creationId xmlns:p14="http://schemas.microsoft.com/office/powerpoint/2010/main" val="250922458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Droplet</Template>
  <TotalTime>482</TotalTime>
  <Words>791</Words>
  <Application>Microsoft Office PowerPoint</Application>
  <PresentationFormat>Widescreen</PresentationFormat>
  <Paragraphs>311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Times New Roman</vt:lpstr>
      <vt:lpstr>Tw Cen MT</vt:lpstr>
      <vt:lpstr>Wingdings</vt:lpstr>
      <vt:lpstr>Droplet</vt:lpstr>
      <vt:lpstr>PowerPoint Presentation</vt:lpstr>
      <vt:lpstr>Background of the study</vt:lpstr>
      <vt:lpstr>Problem Statement</vt:lpstr>
      <vt:lpstr>Objectives</vt:lpstr>
      <vt:lpstr>Literature review</vt:lpstr>
      <vt:lpstr>Methodology </vt:lpstr>
      <vt:lpstr>Methodology-System Operation</vt:lpstr>
      <vt:lpstr>METHODOLOGY-LOGICAL FLOW CHART</vt:lpstr>
      <vt:lpstr>Expected Results</vt:lpstr>
      <vt:lpstr>Work plan </vt:lpstr>
      <vt:lpstr>Gantt Chart </vt:lpstr>
      <vt:lpstr>Budget </vt:lpstr>
      <vt:lpstr>PowerPoint Presentation</vt:lpstr>
      <vt:lpstr>Key References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Joshua</dc:creator>
  <cp:lastModifiedBy>Joshua</cp:lastModifiedBy>
  <cp:revision>35</cp:revision>
  <dcterms:created xsi:type="dcterms:W3CDTF">2026-02-09T13:42:38Z</dcterms:created>
  <dcterms:modified xsi:type="dcterms:W3CDTF">2026-02-11T03:08:19Z</dcterms:modified>
</cp:coreProperties>
</file>